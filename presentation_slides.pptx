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Accidents by Hour of Day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ln w="3175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2590</c:v>
                </c:pt>
                <c:pt idx="1">
                  <c:v>2354</c:v>
                </c:pt>
                <c:pt idx="2">
                  <c:v>2227</c:v>
                </c:pt>
                <c:pt idx="3">
                  <c:v>2528</c:v>
                </c:pt>
                <c:pt idx="4">
                  <c:v>3684</c:v>
                </c:pt>
                <c:pt idx="5">
                  <c:v>4091</c:v>
                </c:pt>
                <c:pt idx="6">
                  <c:v>3675</c:v>
                </c:pt>
                <c:pt idx="7">
                  <c:v>4402</c:v>
                </c:pt>
                <c:pt idx="8">
                  <c:v>4550</c:v>
                </c:pt>
                <c:pt idx="9">
                  <c:v>3770</c:v>
                </c:pt>
                <c:pt idx="10">
                  <c:v>3559</c:v>
                </c:pt>
                <c:pt idx="11">
                  <c:v>2792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D70-4586-95C8-25F6B8ACF3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A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Arial"/>
              </a:rPr>
              <a:t>Top 5 Provinces by Accident Count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solidFill>
              <a:srgbClr val="1B243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Suphan Buri</c:v>
                </c:pt>
                <c:pt idx="1">
                  <c:v>Nakhon Ratchasima</c:v>
                </c:pt>
                <c:pt idx="2">
                  <c:v>Chiang Mai</c:v>
                </c:pt>
                <c:pt idx="3">
                  <c:v>Chon Buri</c:v>
                </c:pt>
                <c:pt idx="4">
                  <c:v>Bangkok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3056</c:v>
                </c:pt>
                <c:pt idx="1">
                  <c:v>3330</c:v>
                </c:pt>
                <c:pt idx="2">
                  <c:v>3407</c:v>
                </c:pt>
                <c:pt idx="3">
                  <c:v>4120</c:v>
                </c:pt>
                <c:pt idx="4">
                  <c:v>6439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88-4B95-9EE8-7D5DFAC5BC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CEA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300" b="0" i="0" u="none" strike="noStrike">
                <a:solidFill>
                  <a:srgbClr val="000000"/>
                </a:solidFill>
                <a:latin typeface="Arial"/>
              </a:rPr>
              <a:t>Accident Severity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A9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268-4149-8DC7-A40FB0C3F493}"/>
              </c:ext>
            </c:extLst>
          </c:dPt>
          <c:dPt>
            <c:idx val="1"/>
            <c:bubble3D val="0"/>
            <c:spPr>
              <a:solidFill>
                <a:srgbClr val="3F9C6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268-4149-8DC7-A40FB0C3F493}"/>
              </c:ext>
            </c:extLst>
          </c:dPt>
          <c:dPt>
            <c:idx val="2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268-4149-8DC7-A40FB0C3F49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268-4149-8DC7-A40FB0C3F49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268-4149-8DC7-A40FB0C3F49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268-4149-8DC7-A40FB0C3F49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Injury</c:v>
                </c:pt>
                <c:pt idx="1">
                  <c:v>Property Damage Only</c:v>
                </c:pt>
                <c:pt idx="2">
                  <c:v>Fatal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44.5</c:v>
                </c:pt>
                <c:pt idx="1">
                  <c:v>44.4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268-4149-8DC7-A40FB0C3F4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Fatal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clear</c:v>
                </c:pt>
                <c:pt idx="1">
                  <c:v>rainy</c:v>
                </c:pt>
                <c:pt idx="2">
                  <c:v>foggy</c:v>
                </c:pt>
                <c:pt idx="3">
                  <c:v>dark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12.9</c:v>
                </c:pt>
                <c:pt idx="1">
                  <c:v>7.4</c:v>
                </c:pt>
                <c:pt idx="2">
                  <c:v>15.1</c:v>
                </c:pt>
                <c:pt idx="3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90-45FB-B3D4-DA77707228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Injury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clear</c:v>
                </c:pt>
                <c:pt idx="1">
                  <c:v>rainy</c:v>
                </c:pt>
                <c:pt idx="2">
                  <c:v>foggy</c:v>
                </c:pt>
                <c:pt idx="3">
                  <c:v>dark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45.4</c:v>
                </c:pt>
                <c:pt idx="1">
                  <c:v>37.700000000000003</c:v>
                </c:pt>
                <c:pt idx="2">
                  <c:v>57.4</c:v>
                </c:pt>
                <c:pt idx="3">
                  <c:v>47.3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90-45FB-B3D4-DA777072284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PDO</c:v>
                </c:pt>
              </c:strCache>
            </c:strRef>
          </c:tx>
          <c:spPr>
            <a:solidFill>
              <a:srgbClr val="3F9C6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clear</c:v>
                </c:pt>
                <c:pt idx="1">
                  <c:v>rainy</c:v>
                </c:pt>
                <c:pt idx="2">
                  <c:v>foggy</c:v>
                </c:pt>
                <c:pt idx="3">
                  <c:v>dark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41.7</c:v>
                </c:pt>
                <c:pt idx="1">
                  <c:v>54.8</c:v>
                </c:pt>
                <c:pt idx="2">
                  <c:v>27.6</c:v>
                </c:pt>
                <c:pt idx="3">
                  <c:v>8.6999999999999993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E90-45FB-B3D4-DA77707228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B243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0.58599999999999997</c:v>
                </c:pt>
                <c:pt idx="1">
                  <c:v>0.58199999999999996</c:v>
                </c:pt>
                <c:pt idx="2">
                  <c:v>0.59499999999999997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E4-4F4B-AA2B-DD1605080C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 (macro)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0.56799999999999995</c:v>
                </c:pt>
                <c:pt idx="1">
                  <c:v>0.57199999999999995</c:v>
                </c:pt>
                <c:pt idx="2">
                  <c:v>0.60399999999999998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E4-4F4B-AA2B-DD1605080CF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 (macro)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0.47299999999999998</c:v>
                </c:pt>
                <c:pt idx="1">
                  <c:v>0.49</c:v>
                </c:pt>
                <c:pt idx="2">
                  <c:v>0.47599999999999998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3E4-4F4B-AA2B-DD1605080CF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 (macro)</c:v>
                </c:pt>
              </c:strCache>
            </c:strRef>
          </c:tx>
          <c:spPr>
            <a:solidFill>
              <a:srgbClr val="3F9C6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0.47299999999999998</c:v>
                </c:pt>
                <c:pt idx="1">
                  <c:v>0.49399999999999999</c:v>
                </c:pt>
                <c:pt idx="2">
                  <c:v>0.47199999999999998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3E4-4F4B-AA2B-DD1605080C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EA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B2430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vehicle_type: motorcycle</c:v>
                </c:pt>
                <c:pt idx="1">
                  <c:v>hour</c:v>
                </c:pt>
                <c:pt idx="2">
                  <c:v>vehicle_type: other</c:v>
                </c:pt>
                <c:pt idx="3">
                  <c:v>month</c:v>
                </c:pt>
                <c:pt idx="4">
                  <c:v>number_of_vehicles_involved</c:v>
                </c:pt>
                <c:pt idx="5">
                  <c:v>province: other_province</c:v>
                </c:pt>
                <c:pt idx="6">
                  <c:v>agency: rural roads</c:v>
                </c:pt>
                <c:pt idx="7">
                  <c:v>province: chon buri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</c:v>
                </c:pt>
                <c:pt idx="1">
                  <c:v>7.8E-2</c:v>
                </c:pt>
                <c:pt idx="2">
                  <c:v>6.5000000000000002E-2</c:v>
                </c:pt>
                <c:pt idx="3">
                  <c:v>0.06</c:v>
                </c:pt>
                <c:pt idx="4">
                  <c:v>5.1999999999999998E-2</c:v>
                </c:pt>
                <c:pt idx="5">
                  <c:v>3.7999999999999999E-2</c:v>
                </c:pt>
                <c:pt idx="6">
                  <c:v>3.4000000000000002E-2</c:v>
                </c:pt>
                <c:pt idx="7">
                  <c:v>3.1E-2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A7-4CAF-B785-D4CDC20A0D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CEA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622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232B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1371600" y="4937760"/>
            <a:ext cx="3657600" cy="3657600"/>
          </a:xfrm>
          <a:prstGeom prst="ellipse">
            <a:avLst/>
          </a:prstGeom>
          <a:solidFill>
            <a:srgbClr val="232B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8083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93B"/>
                </a:solidFill>
              </a:rPr>
              <a:t>CPE393 — INTRODUCTION TO DATA SCIENCE WITH PYTHON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 Road Accident Analysis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3429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CDD6"/>
                </a:solidFill>
              </a:rPr>
              <a:t>2019–2022 · Predicting Accident Severity from Environmental and Contextual Factors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57607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Group BRQ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9CDD6"/>
                </a:solidFill>
              </a:rPr>
              <a:t>Baptiste LORTON   ·   Romain BARDET   ·   Quentin COUPÉ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0A0"/>
                </a:solidFill>
              </a:rPr>
              <a:t>KMUTT  ·  Summer Semester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</a:rPr>
              <a:t>01 · PROBLEM DEFINITION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4F2E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731520" cy="73152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23390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</a:rPr>
              <a:t>81,735 accidents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recorded across Thailand between 2019 and 2022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60520" y="182880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4F2E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434840" y="214884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035" y="23390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</a:rPr>
              <a:t>12% are fatal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434840" y="35204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Fatal outcomes are rare but carry the highest human cost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772400" y="1828800"/>
            <a:ext cx="3291840" cy="2834640"/>
          </a:xfrm>
          <a:prstGeom prst="roundRect">
            <a:avLst>
              <a:gd name="adj" fmla="val 2581"/>
            </a:avLst>
          </a:prstGeom>
          <a:solidFill>
            <a:srgbClr val="F4F2EC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8046720" y="2148840"/>
            <a:ext cx="731520" cy="731520"/>
          </a:xfrm>
          <a:prstGeom prst="ellipse">
            <a:avLst/>
          </a:prstGeom>
          <a:solidFill>
            <a:srgbClr val="3F9C6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6915" y="233903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</a:rPr>
              <a:t>Policy relevance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046720" y="35204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Knowing which conditions raise severity can target road-safety spending where it helps most.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502920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</a:rPr>
              <a:t>Goal: </a:t>
            </a:r>
            <a:r>
              <a:rPr lang="en-US" sz="1500" dirty="0">
                <a:solidFill>
                  <a:srgbClr val="6B7280"/>
                </a:solidFill>
              </a:rPr>
              <a:t>predict accident severity : Fatal / Injury / Property Damage Only. From contextual factors available at the scene (vehicle type, weather, road, time, location), and use it to surface, policy-relevant insight.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</a:rPr>
              <a:t>02 · DATASET DESCRIPTION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 Road Accident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</a:rPr>
              <a:t>81,735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280"/>
                </a:solidFill>
              </a:rPr>
              <a:t>ROWS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91840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</a:rPr>
              <a:t>18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91840" y="2377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280"/>
                </a:solidFill>
              </a:rPr>
              <a:t>COLUMNS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</a:rPr>
              <a:t>2019–2022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280"/>
                </a:solidFill>
              </a:rPr>
              <a:t>TIME SPAN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3063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</a:rPr>
              <a:t>CSV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91840" y="3566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B7280"/>
                </a:solidFill>
              </a:rPr>
              <a:t>FORMAT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0" cy="2743200"/>
          </a:xfrm>
          <a:prstGeom prst="line">
            <a:avLst/>
          </a:prstGeom>
          <a:noFill/>
          <a:ln w="19050">
            <a:solidFill>
              <a:srgbClr val="E3E1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675120" y="18288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3B"/>
                </a:solidFill>
              </a:rPr>
              <a:t>Source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12140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Kaggle, originally published by the Office of the Permanent Secretary, Ministry of Transport, Thailand.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2880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3B"/>
                </a:solidFill>
              </a:rPr>
              <a:t>Key variables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3172968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incident_datetime, province, agency, vehicle_type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presumed_cause, accident_type, weather_condition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number_of_fatalities / injuries / vehicles_involved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latitude, longitude, road &amp; slope description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1B24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868680" y="512064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Engineered target — accident_severity:  </a:t>
            </a:r>
            <a:r>
              <a:rPr lang="en-US" sz="1500" dirty="0">
                <a:solidFill>
                  <a:srgbClr val="D8DBE3"/>
                </a:solidFill>
              </a:rPr>
              <a:t>Fatal (≥1 death)  ·  Injury (≥1 injured, no death)  ·  Property Damage Only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</a:rPr>
              <a:t>02 · DATASET DESCRIPTION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data quality issues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3200400"/>
        </p:xfrm>
        <a:graphic>
          <a:graphicData uri="http://schemas.openxmlformats.org/drawingml/2006/table">
            <a:tbl>
              <a:tblPr/>
              <a:tblGrid>
                <a:gridCol w="667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Issue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Rows affected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report_datetime delayed &gt;30 days (median 48.7 days)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≈48,400 (59%)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64545"/>
                          </a:solidFill>
                        </a:rPr>
                        <a:t>Critical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report_datetime earlier than incident_datetime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64545"/>
                          </a:solidFill>
                        </a:rPr>
                        <a:t>Critical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Missing GPS coordinates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359 (0.44%)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64545"/>
                          </a:solidFill>
                        </a:rPr>
                        <a:t>Critical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GPS coordinates outside Thailand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64545"/>
                          </a:solidFill>
                        </a:rPr>
                        <a:t>Critical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0 vehicles involved (impossible)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109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2A93B"/>
                          </a:solidFill>
                        </a:rPr>
                        <a:t>Significant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“speeding” dominates presumed_cause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≈60,000 (74%)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2A93B"/>
                          </a:solidFill>
                        </a:rPr>
                        <a:t>Significant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</a:rPr>
              <a:t>Bottom line: </a:t>
            </a:r>
            <a:r>
              <a:rPr lang="en-US" sz="1300" dirty="0">
                <a:solidFill>
                  <a:srgbClr val="6B7280"/>
                </a:solidFill>
              </a:rPr>
              <a:t>report_datetime is unusable for temporal analysis — incident_datetime is used instead throughout this project.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</a:rPr>
              <a:t>03 · PREPROCESSING &amp; CLEANING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decisions, explained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078992"/>
          </a:xfrm>
          <a:prstGeom prst="roundRect">
            <a:avLst>
              <a:gd name="adj" fmla="val 5932"/>
            </a:avLst>
          </a:prstGeom>
          <a:solidFill>
            <a:srgbClr val="F4F2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49808" y="19842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05840" y="189280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Duplicates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203704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0 full duplicates, 0 duplicate acc_code → no deduplication needed.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49240" cy="1078992"/>
          </a:xfrm>
          <a:prstGeom prst="roundRect">
            <a:avLst>
              <a:gd name="adj" fmla="val 5932"/>
            </a:avLst>
          </a:prstGeom>
          <a:solidFill>
            <a:srgbClr val="F4F2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419088" y="198424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675120" y="189280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Data types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2203704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incident_datetime / report_datetime converted from text to real datetime objects.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26664"/>
            <a:ext cx="5349240" cy="1078992"/>
          </a:xfrm>
          <a:prstGeom prst="roundRect">
            <a:avLst>
              <a:gd name="adj" fmla="val 5932"/>
            </a:avLst>
          </a:prstGeom>
          <a:solidFill>
            <a:srgbClr val="F4F2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749808" y="32278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005840" y="313639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Outliers (IQR)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447288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Flagged on fatality/injury counts kept, a multi-fatality pile-up is real, not an error.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026664"/>
            <a:ext cx="5349240" cy="1078992"/>
          </a:xfrm>
          <a:prstGeom prst="roundRect">
            <a:avLst>
              <a:gd name="adj" fmla="val 5932"/>
            </a:avLst>
          </a:prstGeom>
          <a:solidFill>
            <a:srgbClr val="F4F2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419088" y="32278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675120" y="313639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0 vehicles involved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3447288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109 rows dropped, physically impossible for a road accident.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270248"/>
            <a:ext cx="5349240" cy="1078992"/>
          </a:xfrm>
          <a:prstGeom prst="roundRect">
            <a:avLst>
              <a:gd name="adj" fmla="val 5932"/>
            </a:avLst>
          </a:prstGeom>
          <a:solidFill>
            <a:srgbClr val="F4F2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749808" y="447141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005840" y="437997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GPS out of Thailand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69087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3 rows dropped; 359 rows with missing GPS kept, excluded from maps only.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270248"/>
            <a:ext cx="5349240" cy="1078992"/>
          </a:xfrm>
          <a:prstGeom prst="roundRect">
            <a:avLst>
              <a:gd name="adj" fmla="val 5932"/>
            </a:avLst>
          </a:prstGeom>
          <a:solidFill>
            <a:srgbClr val="F4F2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419088" y="447141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675120" y="437997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30"/>
                </a:solidFill>
              </a:rPr>
              <a:t>Leakage columns dropped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75120" y="469087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number_of_fatalities / injuries removed from features, they define the target.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</a:rPr>
              <a:t>04 · 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where accidents happen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720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Accidents rise steadily through the day, peaking in the afternoon (14h-16h).</a:t>
            </a:r>
            <a:endParaRPr lang="en-US" sz="12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6309360" y="1783080"/>
          <a:ext cx="5303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6309360" y="45720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Bangkok and Chon Buri lead in raw accident counts among recorded provinces.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</a:rPr>
              <a:t>04 · 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is rare but not negligible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49377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17830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</a:rPr>
              <a:t>Severity by weather condition (share of each class)</a:t>
            </a:r>
            <a:endParaRPr lang="en-US" sz="13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5852160" y="2148840"/>
          <a:ext cx="57607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Accidents recorded under “dark” conditions show a strikingly higher fatal share (44%, n=368) than clear weather (13%)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</a:rPr>
              <a:t>04 · 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fatal accidents cluster?</a:t>
            </a:r>
            <a:endParaRPr lang="en-US" sz="3000" dirty="0"/>
          </a:p>
        </p:txBody>
      </p:sp>
      <p:pic>
        <p:nvPicPr>
          <p:cNvPr id="4" name="Image 0" descr="figures/fig_0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91640"/>
            <a:ext cx="32004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23360" y="17830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</a:rPr>
              <a:t>Geographic distribution of accidents by severity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023360" y="2560320"/>
            <a:ext cx="201168" cy="201168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343400" y="2514600"/>
            <a:ext cx="7269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64545"/>
                </a:solidFill>
              </a:rPr>
              <a:t>Fatal: </a:t>
            </a:r>
            <a:r>
              <a:rPr lang="en-US" sz="1250" dirty="0">
                <a:solidFill>
                  <a:srgbClr val="6B7280"/>
                </a:solidFill>
              </a:rPr>
              <a:t>Scattered along all major corridors, not confined to one region. Severity is driven more by local conditions than geography alone.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023360" y="3429000"/>
            <a:ext cx="201168" cy="20116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343400" y="3383280"/>
            <a:ext cx="7269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2A93B"/>
                </a:solidFill>
              </a:rPr>
              <a:t>Injury: </a:t>
            </a:r>
            <a:r>
              <a:rPr lang="en-US" sz="1250" dirty="0">
                <a:solidFill>
                  <a:srgbClr val="6B7280"/>
                </a:solidFill>
              </a:rPr>
              <a:t>Dense clusters in central and northern Thailand, mirroring population and traffic density.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023360" y="4297680"/>
            <a:ext cx="201168" cy="201168"/>
          </a:xfrm>
          <a:prstGeom prst="ellipse">
            <a:avLst/>
          </a:prstGeom>
          <a:solidFill>
            <a:srgbClr val="3F9C6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343400" y="4251960"/>
            <a:ext cx="7269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F9C6D"/>
                </a:solidFill>
              </a:rPr>
              <a:t>PDO: </a:t>
            </a:r>
            <a:r>
              <a:rPr lang="en-US" sz="1250" dirty="0">
                <a:solidFill>
                  <a:srgbClr val="6B7280"/>
                </a:solidFill>
              </a:rPr>
              <a:t>Most concentrated in urban areas and highway hubs, consistent with lower-speed, higher-frequency minor collisions.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023360" y="5074920"/>
            <a:ext cx="7269480" cy="822960"/>
          </a:xfrm>
          <a:prstGeom prst="roundRect">
            <a:avLst>
              <a:gd name="adj" fmla="val 7778"/>
            </a:avLst>
          </a:prstGeom>
          <a:solidFill>
            <a:srgbClr val="F4F2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4251960" y="50749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430"/>
                </a:solidFill>
              </a:rPr>
              <a:t>359 rows</a:t>
            </a:r>
            <a:r>
              <a:rPr lang="en-US" sz="1200" dirty="0">
                <a:solidFill>
                  <a:srgbClr val="6B7280"/>
                </a:solidFill>
              </a:rPr>
              <a:t> had missing GPS and were excluded from this map only, they are kept in all other analyses and the model.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</a:rPr>
              <a:t>05 · 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columns into model-ready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463040" y="210312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235" y="22933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Time features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hour, month, day_of_week, </a:t>
            </a:r>
            <a:r>
              <a:rPr lang="en-US" sz="1100" dirty="0" err="1">
                <a:solidFill>
                  <a:srgbClr val="6B7280"/>
                </a:solidFill>
              </a:rPr>
              <a:t>is_weekend</a:t>
            </a:r>
            <a:r>
              <a:rPr lang="en-US" sz="1100" dirty="0">
                <a:solidFill>
                  <a:srgbClr val="6B7280"/>
                </a:solidFill>
              </a:rPr>
              <a:t>, extracted from the reliable incident_datetime.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55848" y="182880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270248" y="210312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443" y="229331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Province grouping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38728" y="35204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Top 15 provinces kept; remainder grouped as “other_province” to avoid sparse encoding.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63056" y="182880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7077456" y="210312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651" y="229331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5936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One-Hot Encoding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45936" y="35204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vehicle_type, weather, road/slope, agency, </a:t>
            </a:r>
            <a:r>
              <a:rPr lang="en-US" sz="1100" dirty="0" err="1">
                <a:solidFill>
                  <a:srgbClr val="6B7280"/>
                </a:solidFill>
              </a:rPr>
              <a:t>accident_type</a:t>
            </a:r>
            <a:r>
              <a:rPr lang="en-US" sz="1100" dirty="0">
                <a:solidFill>
                  <a:srgbClr val="6B7280"/>
                </a:solidFill>
              </a:rPr>
              <a:t>, nominal, no natural order.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70264" y="182880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9884664" y="210312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4859" y="229331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53144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</a:rPr>
              <a:t>Scaling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53144" y="35204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StandardScaler on numeric features for Logistic Regression.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5166360"/>
            <a:ext cx="10789920" cy="960120"/>
          </a:xfrm>
          <a:prstGeom prst="roundRect">
            <a:avLst>
              <a:gd name="adj" fmla="val 7619"/>
            </a:avLst>
          </a:prstGeom>
          <a:solidFill>
            <a:srgbClr val="1B24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19"/>
          <p:cNvSpPr/>
          <p:nvPr/>
        </p:nvSpPr>
        <p:spPr>
          <a:xfrm>
            <a:off x="868680" y="5166360"/>
            <a:ext cx="10241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Excluded by design:  </a:t>
            </a:r>
            <a:r>
              <a:rPr lang="en-US" sz="1400" dirty="0">
                <a:solidFill>
                  <a:srgbClr val="D8DBE3"/>
                </a:solidFill>
              </a:rPr>
              <a:t>presumed_cause (likely reporting bias toward “speeding”), and fatality/injury counts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</a:rPr>
              <a:t>06 · MACHINE LEARNING MODEL TRAINING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models, one fair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4F2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22814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718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</a:rPr>
              <a:t>Logistic Regression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Linear baseline simple and interpretable.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24528" y="18288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4F2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498848" y="2103120"/>
            <a:ext cx="685800" cy="68580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156" y="22814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98848" y="29718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</a:rPr>
              <a:t>Decision Tree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98848" y="33375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max_depth=10 captures non-linear interactions.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00416" y="1828800"/>
            <a:ext cx="3429000" cy="2286000"/>
          </a:xfrm>
          <a:prstGeom prst="roundRect">
            <a:avLst>
              <a:gd name="adj" fmla="val 3200"/>
            </a:avLst>
          </a:prstGeom>
          <a:solidFill>
            <a:srgbClr val="F4F2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8174736" y="2103120"/>
            <a:ext cx="685800" cy="685800"/>
          </a:xfrm>
          <a:prstGeom prst="ellipse">
            <a:avLst/>
          </a:prstGeom>
          <a:solidFill>
            <a:srgbClr val="3F9C6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044" y="22814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74736" y="29718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</a:rPr>
              <a:t>Random Forest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174736" y="33375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200 trees, max_depth=15 ensemble for robustness.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44348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</a:rPr>
              <a:t>Shared pipeline for a fair comparison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4846320"/>
            <a:ext cx="1993392" cy="868680"/>
          </a:xfrm>
          <a:prstGeom prst="roundRect">
            <a:avLst>
              <a:gd name="adj" fmla="val 6316"/>
            </a:avLst>
          </a:prstGeom>
          <a:solidFill>
            <a:srgbClr val="1B24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6"/>
          <p:cNvSpPr/>
          <p:nvPr/>
        </p:nvSpPr>
        <p:spPr>
          <a:xfrm>
            <a:off x="621792" y="48463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Clean data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2542032" y="5280660"/>
            <a:ext cx="16459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18"/>
          <p:cNvSpPr/>
          <p:nvPr/>
        </p:nvSpPr>
        <p:spPr>
          <a:xfrm>
            <a:off x="2706624" y="4846320"/>
            <a:ext cx="1993392" cy="868680"/>
          </a:xfrm>
          <a:prstGeom prst="roundRect">
            <a:avLst>
              <a:gd name="adj" fmla="val 6316"/>
            </a:avLst>
          </a:prstGeom>
          <a:solidFill>
            <a:srgbClr val="1B24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19"/>
          <p:cNvSpPr/>
          <p:nvPr/>
        </p:nvSpPr>
        <p:spPr>
          <a:xfrm>
            <a:off x="2779776" y="48463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Encode + Scale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(fit on train only)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700016" y="5280660"/>
            <a:ext cx="16459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1"/>
          <p:cNvSpPr/>
          <p:nvPr/>
        </p:nvSpPr>
        <p:spPr>
          <a:xfrm>
            <a:off x="4864608" y="4846320"/>
            <a:ext cx="1993392" cy="868680"/>
          </a:xfrm>
          <a:prstGeom prst="roundRect">
            <a:avLst>
              <a:gd name="adj" fmla="val 6316"/>
            </a:avLst>
          </a:prstGeom>
          <a:solidFill>
            <a:srgbClr val="1B24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2"/>
          <p:cNvSpPr/>
          <p:nvPr/>
        </p:nvSpPr>
        <p:spPr>
          <a:xfrm>
            <a:off x="4937760" y="48463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80/20 stratified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split (seed=42)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858000" y="5280660"/>
            <a:ext cx="16459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4"/>
          <p:cNvSpPr/>
          <p:nvPr/>
        </p:nvSpPr>
        <p:spPr>
          <a:xfrm>
            <a:off x="7022592" y="4846320"/>
            <a:ext cx="1993392" cy="868680"/>
          </a:xfrm>
          <a:prstGeom prst="roundRect">
            <a:avLst>
              <a:gd name="adj" fmla="val 6316"/>
            </a:avLst>
          </a:prstGeom>
          <a:solidFill>
            <a:srgbClr val="1B24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5"/>
          <p:cNvSpPr/>
          <p:nvPr/>
        </p:nvSpPr>
        <p:spPr>
          <a:xfrm>
            <a:off x="7095744" y="48463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Train each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model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9015984" y="5280660"/>
            <a:ext cx="16459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27"/>
          <p:cNvSpPr/>
          <p:nvPr/>
        </p:nvSpPr>
        <p:spPr>
          <a:xfrm>
            <a:off x="9180576" y="4846320"/>
            <a:ext cx="1993392" cy="868680"/>
          </a:xfrm>
          <a:prstGeom prst="roundRect">
            <a:avLst>
              <a:gd name="adj" fmla="val 6316"/>
            </a:avLst>
          </a:prstGeom>
          <a:solidFill>
            <a:srgbClr val="1B24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28"/>
          <p:cNvSpPr/>
          <p:nvPr/>
        </p:nvSpPr>
        <p:spPr>
          <a:xfrm>
            <a:off x="9253728" y="484632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Evaluate 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untouched test set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</a:rPr>
              <a:t>07 · EVALUATION METRICS &amp;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comparison, macro-averaged metrics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110642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</a:rPr>
              <a:t>Random Forest</a:t>
            </a:r>
            <a:r>
              <a:rPr lang="en-US" sz="1300" dirty="0">
                <a:solidFill>
                  <a:srgbClr val="6B7280"/>
                </a:solidFill>
              </a:rPr>
              <a:t> leads on accuracy &amp; precision  ·  </a:t>
            </a:r>
            <a:r>
              <a:rPr lang="en-US" sz="1300" b="1" dirty="0">
                <a:solidFill>
                  <a:srgbClr val="1B2430"/>
                </a:solidFill>
              </a:rPr>
              <a:t>Decision Tree</a:t>
            </a:r>
            <a:r>
              <a:rPr lang="en-US" sz="1300" dirty="0">
                <a:solidFill>
                  <a:srgbClr val="6B7280"/>
                </a:solidFill>
              </a:rPr>
              <a:t> leads on macro recall &amp; F1. Differences are modest, within 1–2 points.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</a:rPr>
              <a:t>07 · EVALUATION METRICS &amp;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honest finding: Fatal accidents are hard to catch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22960" cy="82296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20427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745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DBE3"/>
                </a:solidFill>
              </a:rPr>
              <a:t>Recall on the Fatal class: </a:t>
            </a:r>
            <a:r>
              <a:rPr lang="en-US" sz="1800" b="1" dirty="0">
                <a:solidFill>
                  <a:srgbClr val="D64545"/>
                </a:solidFill>
              </a:rPr>
              <a:t>only 9–19%</a:t>
            </a:r>
            <a:r>
              <a:rPr lang="en-US" sz="1800" dirty="0">
                <a:solidFill>
                  <a:srgbClr val="D8DBE3"/>
                </a:solidFill>
              </a:rPr>
              <a:t> across all three models.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8229600" cy="20116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Fatal Precision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Fatal Recall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Fatal F1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Logistic Regression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0.53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0.11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0.18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Decision Tree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0.55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0.19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0.28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0.62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0.09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0.16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1663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</a:rPr>
              <a:t>Why: </a:t>
            </a:r>
            <a:r>
              <a:rPr lang="en-US" sz="1400" dirty="0">
                <a:solidFill>
                  <a:srgbClr val="C9CDD6"/>
                </a:solidFill>
              </a:rPr>
              <a:t>what separates Injury from Fatal often depends on factors not in the data impact speed, helmet/seatbelt use, time to medical response. We report this honestly rather than hide it behind overall accuracy.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</a:rPr>
              <a:t>07 · EVALUATION METRICS &amp;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Random Forest's predictions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110642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Vehicle type (especially motorcycle) and time-based features outweigh province or weather in predicting severity.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</a:rPr>
              <a:t>08 · RESPONSIBLE AI PRACTICES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this data and model responsibly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" y="22475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659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</a:rPr>
              <a:t>Bias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35000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“Speeding” dominates presumed_cause (74%), likely reporting convenience, not ground truth. Excluded from the model.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6400800" y="205740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995" y="224759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9659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</a:rPr>
              <a:t>Reliability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15200" y="235000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Reporting coverage differs across agencies/provinces. Low counts may reflect weak monitoring, not fewer accidents.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33756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731520" y="361188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15" y="380207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5204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</a:rPr>
              <a:t>Honest limits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45920" y="390448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All models miss most fatal accidents (recall 9–19%). Not suitable for real-time triage or insurance decisions.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33756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6400800" y="361188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0995" y="380207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5204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</a:rPr>
              <a:t>Disclosure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15200" y="390448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Generative AI used as a learning aid for structuring, debugging, and writing clarity. 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</a:rPr>
              <a:t>09 · CONCLUSION &amp; FUTURE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learned, 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2A93B"/>
                </a:solidFill>
              </a:rPr>
              <a:t>Main findings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03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Severity splits cleanly into 3 usable classes (44% / 44% / 12%)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Random Forest best accuracy/precision; Decision Tree best recall/F1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Fatal accidents remain hard to detect from context alone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Crash dynamics matter more than weather or geography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783080"/>
            <a:ext cx="0" cy="3931920"/>
          </a:xfrm>
          <a:prstGeom prst="line">
            <a:avLst/>
          </a:prstGeom>
          <a:noFill/>
          <a:ln w="19050">
            <a:solidFill>
              <a:srgbClr val="E3E1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0" y="1783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2A93B"/>
                </a:solidFill>
              </a:rPr>
              <a:t>Future 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148840"/>
            <a:ext cx="5394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Add speed limits / traffic volume / road quality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Try SMOTE / class weighting to boost Fatal recall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Build proper province-level hotspot maps (KDE)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Test a binary Fatal vs. non-Fatal reframing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</a:rPr>
              <a:t>10 · TEAM CONTRIBUTION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4F2EC"/>
          </a:solidFill>
          <a:ln/>
          <a:effectLst>
            <a:outerShdw blurRad="101600" dist="381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66160" cy="274320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31520" y="184708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Baptiste LORTON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786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2A93B"/>
                </a:solidFill>
              </a:rPr>
              <a:t>CODE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80720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Data quality check, cleaning, target engineering, correlation heatmap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2A93B"/>
                </a:solidFill>
              </a:rPr>
              <a:t>REPORT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703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Sections 2, 3, 9 (Responsible AI)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3708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2A93B"/>
                </a:solidFill>
              </a:rPr>
              <a:t>SLIDES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459943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Slides 3, 4, 5, 14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526694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2A93B"/>
                </a:solidFill>
              </a:rPr>
              <a:t>ORAL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549554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Introduction + données + Responsible 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15968" y="17373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4F2EC"/>
          </a:solidFill>
          <a:ln/>
          <a:effectLst>
            <a:outerShdw blurRad="101600" dist="381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315968" y="173736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1B24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315968" y="2148840"/>
            <a:ext cx="3566160" cy="274320"/>
          </a:xfrm>
          <a:prstGeom prst="rect">
            <a:avLst/>
          </a:prstGeom>
          <a:solidFill>
            <a:srgbClr val="1B243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498848" y="184708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Romain BARDET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98848" y="25786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B2430"/>
                </a:solidFill>
              </a:rPr>
              <a:t>CODE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98848" y="280720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EDA (temporal, spatial, severity/weather, severity/vehicle), feature engineering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98848" y="3474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B2430"/>
                </a:solidFill>
              </a:rPr>
              <a:t>REPORT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98848" y="3703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Sections 4, 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98848" y="43708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B2430"/>
                </a:solidFill>
              </a:rPr>
              <a:t>SLIDES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98848" y="459943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Slides 6, 7, 8, 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98848" y="526694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B2430"/>
                </a:solidFill>
              </a:rPr>
              <a:t>ORAL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98848" y="549554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EDA + Feature 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83296" y="17373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4F2EC"/>
          </a:solidFill>
          <a:ln/>
          <a:effectLst>
            <a:outerShdw blurRad="101600" dist="3810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8083296" y="1737360"/>
            <a:ext cx="3566160" cy="685800"/>
          </a:xfrm>
          <a:prstGeom prst="roundRect">
            <a:avLst>
              <a:gd name="adj" fmla="val 10667"/>
            </a:avLst>
          </a:prstGeom>
          <a:solidFill>
            <a:srgbClr val="3F9C6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8083296" y="2148840"/>
            <a:ext cx="3566160" cy="274320"/>
          </a:xfrm>
          <a:prstGeom prst="rect">
            <a:avLst/>
          </a:prstGeom>
          <a:solidFill>
            <a:srgbClr val="3F9C6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8266176" y="184708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Quentin COUPÉ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66176" y="25786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F9C6D"/>
                </a:solidFill>
              </a:rPr>
              <a:t>CODE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66176" y="280720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Train-test split, ML pipelines, metrics, confusion matrix, feature importances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66176" y="3474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F9C6D"/>
                </a:solidFill>
              </a:rPr>
              <a:t>REPORT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66176" y="3703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Sections 6, 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66176" y="43708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F9C6D"/>
                </a:solidFill>
              </a:rPr>
              <a:t>SLIDES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66176" y="459943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Slides 10, 11, 12, 13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66176" y="526694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F9C6D"/>
                </a:solidFill>
              </a:rPr>
              <a:t>ORAL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66176" y="549554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Models + Results + Evaluation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232B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85405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CDD6"/>
                </a:solidFill>
              </a:rPr>
              <a:t>Questions &amp; discussion welcome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393192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232B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640080" y="3931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Baptiste LORTON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06240" y="393192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232B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206240" y="3931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Romain BARDET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772400" y="393192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232B3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7772400" y="3931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Quentin COUPÉ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0A0"/>
                </a:solidFill>
              </a:rPr>
              <a:t>Group BRQ · CPE393 · KMUTT · Summer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1354</Words>
  <Application>Microsoft Office PowerPoint</Application>
  <PresentationFormat>Grand écran</PresentationFormat>
  <Paragraphs>236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Thailand Road Accident Analysis (2019-2022)</dc:title>
  <dc:subject>PptxGenJS Presentation</dc:subject>
  <dc:creator>BRQ</dc:creator>
  <cp:lastModifiedBy>BARDET Romain</cp:lastModifiedBy>
  <cp:revision>2</cp:revision>
  <dcterms:created xsi:type="dcterms:W3CDTF">2026-07-06T03:14:02Z</dcterms:created>
  <dcterms:modified xsi:type="dcterms:W3CDTF">2026-07-06T03:48:47Z</dcterms:modified>
</cp:coreProperties>
</file>